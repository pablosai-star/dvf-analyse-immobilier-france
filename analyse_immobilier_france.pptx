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médian €/m²</c:v>
                </c:pt>
              </c:strCache>
            </c:strRef>
          </c:tx>
          <c:spPr>
            <a:solidFill>
              <a:srgbClr val="1A56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C07-4B94-BE60-34314D9EFF1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C07-4B94-BE60-34314D9EFF1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C07-4B94-BE60-34314D9EFF1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C07-4B94-BE60-34314D9EFF1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C07-4B94-BE60-34314D9EFF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Paris (75)</c:v>
                </c:pt>
                <c:pt idx="1">
                  <c:v>Hauts-de-Seine (92)</c:v>
                </c:pt>
                <c:pt idx="2">
                  <c:v>Corse-du-Sud (2A)</c:v>
                </c:pt>
                <c:pt idx="3">
                  <c:v>Val-de-Marne (94)</c:v>
                </c:pt>
                <c:pt idx="4">
                  <c:v>Alpes-Mar. (06)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10739</c:v>
                </c:pt>
                <c:pt idx="1">
                  <c:v>7479</c:v>
                </c:pt>
                <c:pt idx="2">
                  <c:v>6288</c:v>
                </c:pt>
                <c:pt idx="3">
                  <c:v>6108</c:v>
                </c:pt>
                <c:pt idx="4">
                  <c:v>5854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07-4B94-BE60-34314D9EFF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Appartement</c:v>
                </c:pt>
              </c:strCache>
            </c:strRef>
          </c:tx>
          <c:spPr>
            <a:ln w="38100" cap="flat">
              <a:solidFill>
                <a:srgbClr val="1A56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6A8"/>
              </a:solidFill>
              <a:ln w="9525" cap="flat">
                <a:solidFill>
                  <a:srgbClr val="1A56A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3069</c:v>
                </c:pt>
                <c:pt idx="1">
                  <c:v>3425</c:v>
                </c:pt>
                <c:pt idx="2">
                  <c:v>3412</c:v>
                </c:pt>
                <c:pt idx="3">
                  <c:v>3427</c:v>
                </c:pt>
                <c:pt idx="4">
                  <c:v>3282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FE1-4E6A-BDF6-D79F81A5BC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Maison</c:v>
                </c:pt>
              </c:strCache>
            </c:strRef>
          </c:tx>
          <c:spPr>
            <a:ln w="38100" cap="flat">
              <a:solidFill>
                <a:srgbClr val="3B9E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9EE8"/>
              </a:solidFill>
              <a:ln w="9525" cap="flat">
                <a:solidFill>
                  <a:srgbClr val="3B9EE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2800</c:v>
                </c:pt>
                <c:pt idx="1">
                  <c:v>3100</c:v>
                </c:pt>
                <c:pt idx="2">
                  <c:v>3200</c:v>
                </c:pt>
                <c:pt idx="3">
                  <c:v>3100</c:v>
                </c:pt>
                <c:pt idx="4">
                  <c:v>2980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FE1-4E6A-BDF6-D79F81A5BC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A56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Type de bien</c:v>
                </c:pt>
                <c:pt idx="1">
                  <c:v>Nb pièces</c:v>
                </c:pt>
                <c:pt idx="2">
                  <c:v>Année</c:v>
                </c:pt>
                <c:pt idx="3">
                  <c:v>Département</c:v>
                </c:pt>
                <c:pt idx="4">
                  <c:v>Surface bâtie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</c:v>
                </c:pt>
                <c:pt idx="1">
                  <c:v>7.86</c:v>
                </c:pt>
                <c:pt idx="2">
                  <c:v>13.36</c:v>
                </c:pt>
                <c:pt idx="3">
                  <c:v>37.369999999999997</c:v>
                </c:pt>
                <c:pt idx="4">
                  <c:v>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C-43D5-8AD4-D9BA3B2831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19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PRIX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L'IMMOBILIER EN FRANCE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2025  ·  Données DVF  ·  data.gouv.fr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560320" cy="1188720"/>
          </a:xfrm>
          <a:prstGeom prst="rect">
            <a:avLst/>
          </a:prstGeom>
          <a:solidFill>
            <a:srgbClr val="0D2B5C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42 000+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383280"/>
            <a:ext cx="2560320" cy="1188720"/>
          </a:xfrm>
          <a:prstGeom prst="rect">
            <a:avLst/>
          </a:prstGeom>
          <a:solidFill>
            <a:srgbClr val="0D2B5C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429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couvertes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2560320" cy="1188720"/>
          </a:xfrm>
          <a:prstGeom prst="rect">
            <a:avLst/>
          </a:prstGeom>
          <a:solidFill>
            <a:srgbClr val="0D2B5C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429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depts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LE PROBLÈME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on cherche à acheter un bien immobilier en France, c'est difficile de savoir si le prix est juste.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3 000 €/m² à Lyon, c'est cher ou normal 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82296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70048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78608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prix ont-ils vraiment augmenté ces 5 dernières années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36976"/>
            <a:ext cx="82296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328416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36976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Vaut-il mieux acheter une maison ou un appartement 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82296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986784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95344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sont les communes les plus accessibles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LA DONNÉE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Demandes de Valeurs Foncières (DVF) — data.gouv.fr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ventes immobilières notariées en France, publiées chaque année par le gouvernement.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millions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disponibles (2021–2025)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148840"/>
            <a:ext cx="402336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échantillonnées (représentatives)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02336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 couverts, dont DOM-TOM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383280"/>
            <a:ext cx="402336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429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fichiers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3886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ValeursFoncières-20XX.txt — format officiel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STATISTIQUES DESCRIPTIVES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départements les plus chers (€/m²)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05840"/>
            <a:ext cx="3200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0241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3 670 €/m²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0" y="1444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 national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2011680"/>
            <a:ext cx="3200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2029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2 650 €/m²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66928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médian national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3017520"/>
            <a:ext cx="3200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3035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3 986 €/m²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69280" y="3456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4023360"/>
            <a:ext cx="3200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40416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2 864 €/m²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669280" y="4462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Intervalles de confiance à 95% calculés par département — les écarts sont statistiquement significatifs.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ÉVOLUTION DES PRIX 2021–2025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256032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1298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post-Covid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0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rattrapage + taux bas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2377440"/>
            <a:ext cx="256032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2022–2023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2724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+ demande forte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3474720"/>
            <a:ext cx="256032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4930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1792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Remontée des taux BCE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MODÈLE MACHINE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Prédiction du prix au m²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=200,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=15  → 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version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(n=100, sans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2148840"/>
          <a:ext cx="4389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120640" y="1828800"/>
            <a:ext cx="37490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847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(erreur moyenne)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2148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1 230 €/m²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12064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moyen entre prédit et réel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0" y="3063240"/>
            <a:ext cx="37490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(qualité modèle)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0" y="3383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 / 1.0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3749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de la variance expliquée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0" y="4251960"/>
            <a:ext cx="374904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4270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 60m², 3 pièces, Paris, 2025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120640" y="4544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7 817 €/m²  soit 469 000 €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LIMITES &amp; PISTES D'AMÉLIORATION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0.44 : le modèle est honnête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l'immobilier est difficile — notre modèle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44% de la variance. C'est normal avec les variables disponibles.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109728" cy="109728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manquantes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Étage, état du bien, exposition, vue, travaux à prévoir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4023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965960"/>
            <a:ext cx="109728" cy="109728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0116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Proximité des 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23774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Transports, écoles, commerces — facteurs clés non disponibles dans DVF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46120"/>
            <a:ext cx="109728" cy="109728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918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de l'échantillon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65760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lignes/an sur ~4M disponibles — augmenter pour plus de précision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246120"/>
            <a:ext cx="4023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246120"/>
            <a:ext cx="109728" cy="109728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2918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font les pros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65760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MeilleursAgents, SeLoger utilisent des centaines de variables + photos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données publiques et Python, on peut produire des analyses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concrètes et utiles sur le marché immobilier français.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87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et l'Île-de-France restent les marchés les plus chers (10 700 €/m² médian)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815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prix ont augmenté de 2021 à 2023, puis se stabilisent en 2024–2025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703320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758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surface et la localisation expliquent 75% de l'importance dans notre modèle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201168" cy="201168"/>
          </a:xfrm>
          <a:prstGeom prst="ellipse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702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prédiction reste possible avec plus de données contextuelles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DVF — data.gouv.fr  ·  Stack : Python · pandas · scikit-learn · matplotlib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532</Words>
  <Application>Microsoft Office PowerPoint</Application>
  <PresentationFormat>Affichage à l'écran (16:9)</PresentationFormat>
  <Paragraphs>83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prix immobilier France</dc:title>
  <dc:subject>PptxGenJS Presentation</dc:subject>
  <dc:creator>PptxGenJS</dc:creator>
  <cp:lastModifiedBy>gio saissi</cp:lastModifiedBy>
  <cp:revision>3</cp:revision>
  <dcterms:created xsi:type="dcterms:W3CDTF">2026-06-06T16:52:54Z</dcterms:created>
  <dcterms:modified xsi:type="dcterms:W3CDTF">2026-06-07T10:52:47Z</dcterms:modified>
</cp:coreProperties>
</file>